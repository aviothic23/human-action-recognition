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6C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CNN-LSTM
(Baseline)</c:v>
                  </c:pt>
                  <c:pt idx="1">
                    <c:v>CNN-LSTM
+Attention</c:v>
                  </c:pt>
                  <c:pt idx="2">
                    <c:v>3D-CNN
(Baseline)</c:v>
                  </c:pt>
                  <c:pt idx="3">
                    <c:v>3D-CNN
+Attention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80</c:v>
                </c:pt>
                <c:pt idx="2">
                  <c:v>76</c:v>
                </c:pt>
                <c:pt idx="3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371600" cy="320040"/>
          </a:xfrm>
          <a:prstGeom prst="rect">
            <a:avLst/>
          </a:prstGeom>
          <a:solidFill>
            <a:srgbClr val="00C2C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926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B.Tech Project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5486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9144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Attention-Enhanced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Action Recognition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720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Attention Mechanisms to Improve Spatiotemporal Classification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841248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UCF-101   </a:t>
            </a:r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Models: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 •  3D-CNN  •  Attention Variants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BBDD"/>
                </a:solidFill>
              </a:rPr>
              <a:t>Undergraduate B.Tech Final Year Project  |  Computer Vision &amp; Deep Learning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27432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Problem Statement &amp; Motivation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Why HAR? Why Attention?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7432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UCF-101 Dataset Overview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13,320 clips, 101 action classes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44768" y="91440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914400"/>
            <a:ext cx="27432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Methodology &amp; Architecture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CNN-LSTM | 3D-CNN + Attention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224028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240280"/>
            <a:ext cx="27432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Results &amp; Accuracy Comparison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Accuracy gains with attention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24028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240280"/>
            <a:ext cx="27432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Loss &amp; Accuracy Curves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Training convergence analysis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44768" y="224028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2240280"/>
            <a:ext cx="27432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2" name="Text 30"/>
          <p:cNvSpPr/>
          <p:nvPr/>
        </p:nvSpPr>
        <p:spPr>
          <a:xfrm>
            <a:off x="6144768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Confusion Matrices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36208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Class-level performance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56616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566160"/>
            <a:ext cx="27432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7" name="Text 35"/>
          <p:cNvSpPr/>
          <p:nvPr/>
        </p:nvSpPr>
        <p:spPr>
          <a:xfrm>
            <a:off x="256032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Real-world Video Testing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Qualitative evaluation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0" y="356616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3566160"/>
            <a:ext cx="27432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9184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Why Attention Works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Theory + literature support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44768" y="356616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44768" y="3566160"/>
            <a:ext cx="274320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7" name="Text 45"/>
          <p:cNvSpPr/>
          <p:nvPr/>
        </p:nvSpPr>
        <p:spPr>
          <a:xfrm>
            <a:off x="6144768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36208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Conclusion &amp; References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36208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Key findings &amp; citations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8755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</a:rPr>
              <a:t>What is HAR?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2618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Human Action Recognition classifies actions from video sequences — a core task in surveillance, sports analytics, healthcare &amp; HCI.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9339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</a:rPr>
              <a:t>The Challenge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22677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Videos are high-dimensional spatiotemporal data. Models must learn WHAT is happening AND WHEN across multiple frames.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9923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436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</a:rPr>
              <a:t>Why Standard Models Fall Short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94360" y="32735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Vanilla CNN-LSTM and 3D-CNN treat all frames/regions equally — irrelevant background information dilutes discriminative features.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00507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436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</a:rPr>
              <a:t>Our Hypothesis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94360" y="42793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Integrating attention mechanisms allows models to focus on motion-relevant spatial regions &amp; key temporal frames, boosting accuracy.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943600" y="914400"/>
            <a:ext cx="283464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5943600" y="1024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</a:rPr>
              <a:t>101</a:t>
            </a:r>
            <a:endParaRPr lang="en-US" sz="2800" dirty="0"/>
          </a:p>
        </p:txBody>
      </p:sp>
      <p:sp>
        <p:nvSpPr>
          <p:cNvPr id="19" name="Text 13"/>
          <p:cNvSpPr/>
          <p:nvPr/>
        </p:nvSpPr>
        <p:spPr>
          <a:xfrm>
            <a:off x="5943600" y="1572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Action Classes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0" y="2286000"/>
            <a:ext cx="283464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943600" y="23957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</a:rPr>
              <a:t>13,320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5943600" y="2944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Video Clips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943600" y="3657600"/>
            <a:ext cx="283464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5943600" y="37673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</a:rPr>
              <a:t>~2%–6%</a:t>
            </a:r>
            <a:endParaRPr lang="en-US" sz="2800" dirty="0"/>
          </a:p>
        </p:txBody>
      </p:sp>
      <p:sp>
        <p:nvSpPr>
          <p:cNvPr id="25" name="Text 19"/>
          <p:cNvSpPr/>
          <p:nvPr/>
        </p:nvSpPr>
        <p:spPr>
          <a:xfrm>
            <a:off x="5943600" y="4315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Accuracy Gain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with Attention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UCF-101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09728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68680"/>
            <a:ext cx="1572768" cy="96012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56032" y="9144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13,320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56032" y="1371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EEE"/>
                </a:solidFill>
              </a:rPr>
              <a:t>Total Videos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993392" y="868680"/>
            <a:ext cx="1572768" cy="96012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993392" y="9144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993392" y="1371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EEE"/>
                </a:solidFill>
              </a:rPr>
              <a:t>Action Classes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730752" y="868680"/>
            <a:ext cx="1572768" cy="96012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30752" y="9144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25 FPS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730752" y="1371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EEE"/>
                </a:solidFill>
              </a:rPr>
              <a:t>Frame Rate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68112" y="868680"/>
            <a:ext cx="1572768" cy="96012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68112" y="9144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~10s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68112" y="1371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EEE"/>
                </a:solidFill>
              </a:rPr>
              <a:t>Avg. Clip Length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205472" y="868680"/>
            <a:ext cx="1572768" cy="96012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05472" y="9144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 Groups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205472" y="1371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EEE"/>
                </a:solidFill>
              </a:rPr>
              <a:t>Sport/Music/HCI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EEE"/>
                </a:solidFill>
              </a:rPr>
              <a:t>Body Motion/Others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56032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Action Category Groups: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56032" y="2423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/>
        </p:spPr>
      </p:sp>
      <p:sp>
        <p:nvSpPr>
          <p:cNvPr id="23" name="Text 20"/>
          <p:cNvSpPr/>
          <p:nvPr/>
        </p:nvSpPr>
        <p:spPr>
          <a:xfrm>
            <a:off x="256032" y="2423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Sports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084832" y="2423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/>
        </p:spPr>
      </p:sp>
      <p:sp>
        <p:nvSpPr>
          <p:cNvPr id="25" name="Text 22"/>
          <p:cNvSpPr/>
          <p:nvPr/>
        </p:nvSpPr>
        <p:spPr>
          <a:xfrm>
            <a:off x="2084832" y="2423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Music Playing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913632" y="24231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/>
        </p:spPr>
      </p:sp>
      <p:sp>
        <p:nvSpPr>
          <p:cNvPr id="27" name="Text 24"/>
          <p:cNvSpPr/>
          <p:nvPr/>
        </p:nvSpPr>
        <p:spPr>
          <a:xfrm>
            <a:off x="3913632" y="2423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Human-Object Interaction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56032" y="28803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/>
        </p:spPr>
      </p:sp>
      <p:sp>
        <p:nvSpPr>
          <p:cNvPr id="29" name="Text 26"/>
          <p:cNvSpPr/>
          <p:nvPr/>
        </p:nvSpPr>
        <p:spPr>
          <a:xfrm>
            <a:off x="256032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Body Motion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084832" y="28803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/>
        </p:spPr>
      </p:sp>
      <p:sp>
        <p:nvSpPr>
          <p:cNvPr id="31" name="Text 28"/>
          <p:cNvSpPr/>
          <p:nvPr/>
        </p:nvSpPr>
        <p:spPr>
          <a:xfrm>
            <a:off x="2084832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Human-Human Interaction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56032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 Split &amp; Preprocessing: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56032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Train Split: 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084832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70%  (~9,320 clips)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56032" y="4142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Test Split: 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2084832" y="4142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30%  (~3,980 clips)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256032" y="44897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Frame Sampling: 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2084832" y="44897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16 frames per clip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645152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Resize: 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473952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224×224 px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645152" y="4142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Augmentation: 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473952" y="4142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Horizontal flip, crop, normalise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256032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Khurram Soomro et al., "UCF101: A Dataset of 101 Human Actions Classes From Videos in The Wild," arXiv:1212.0402 (2012)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508760"/>
            <a:ext cx="1097280" cy="77724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45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UCF-101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Dataset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</a:rPr>
              <a:t>13,320 videos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</a:rPr>
              <a:t>101 classes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17320" y="1897380"/>
            <a:ext cx="1371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1463040" y="1833372"/>
            <a:ext cx="109728" cy="128016"/>
          </a:xfrm>
          <a:prstGeom prst="triangle">
            <a:avLst/>
          </a:prstGeom>
          <a:solidFill>
            <a:srgbClr val="0D1B2A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1508760"/>
            <a:ext cx="1097280" cy="77724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1545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Preprocessing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Sampling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54480" y="19202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</a:rPr>
              <a:t>16 frames/clip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</a:rPr>
              <a:t>224×224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51760" y="1897380"/>
            <a:ext cx="1371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2697480" y="1833372"/>
            <a:ext cx="109728" cy="128016"/>
          </a:xfrm>
          <a:prstGeom prst="triangle">
            <a:avLst/>
          </a:prstGeom>
          <a:solidFill>
            <a:srgbClr val="0D1B2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88920" y="1508760"/>
            <a:ext cx="1097280" cy="7772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88920" y="1545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Extraction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88920" y="19202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</a:rPr>
              <a:t>CNN / 3D-CNN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86200" y="1897380"/>
            <a:ext cx="1371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3931920" y="1833372"/>
            <a:ext cx="109728" cy="128016"/>
          </a:xfrm>
          <a:prstGeom prst="triangle">
            <a:avLst/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4023360" y="1508760"/>
            <a:ext cx="1097280" cy="7772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23360" y="1545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Temporal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Modelling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23360" y="19202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</a:rPr>
              <a:t>LSTM / 3D-Conv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20640" y="1897380"/>
            <a:ext cx="1371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5166360" y="1833372"/>
            <a:ext cx="109728" cy="128016"/>
          </a:xfrm>
          <a:prstGeom prst="triangle">
            <a:avLst/>
          </a:prstGeom>
          <a:solidFill>
            <a:srgbClr val="0D1B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257800" y="1508760"/>
            <a:ext cx="1097280" cy="777240"/>
          </a:xfrm>
          <a:prstGeom prst="rect">
            <a:avLst/>
          </a:prstGeom>
          <a:solidFill>
            <a:srgbClr val="00C2C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57800" y="1545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Attention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Module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57800" y="19202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</a:rPr>
              <a:t>Soft / Self-Attn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55080" y="1897380"/>
            <a:ext cx="1371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6400800" y="1833372"/>
            <a:ext cx="109728" cy="128016"/>
          </a:xfrm>
          <a:prstGeom prst="triangle">
            <a:avLst/>
          </a:prstGeom>
          <a:solidFill>
            <a:srgbClr val="0D1B2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1508760"/>
            <a:ext cx="1097280" cy="7772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1545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Classifier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19202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</a:rPr>
              <a:t>FC + Softmax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589520" y="1897380"/>
            <a:ext cx="1371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5400000">
            <a:off x="7635240" y="1833372"/>
            <a:ext cx="109728" cy="128016"/>
          </a:xfrm>
          <a:prstGeom prst="triangle">
            <a:avLst/>
          </a:prstGeom>
          <a:solidFill>
            <a:srgbClr val="0D1B2A"/>
          </a:solidFill>
          <a:ln/>
        </p:spPr>
      </p:sp>
      <p:sp>
        <p:nvSpPr>
          <p:cNvPr id="35" name="Shape 33"/>
          <p:cNvSpPr/>
          <p:nvPr/>
        </p:nvSpPr>
        <p:spPr>
          <a:xfrm>
            <a:off x="7726680" y="1508760"/>
            <a:ext cx="1097280" cy="7772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26680" y="1545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Prediction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Evaluation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726680" y="19202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EEFF"/>
                </a:solidFill>
              </a:rPr>
              <a:t>Accuracy / CM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6032" y="2606040"/>
            <a:ext cx="4160520" cy="1005840"/>
          </a:xfrm>
          <a:prstGeom prst="rect">
            <a:avLst/>
          </a:prstGeom>
          <a:solidFill>
            <a:srgbClr val="EEF3FF"/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Branch A – CNN-LSTM (Baseline)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7472" y="29443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Spatial features via 2D-CNN (VGG/ResNet)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Sequential learning via stacked LSTM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Accuracy: 78%  |  + Attention → 80%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27448" y="2606040"/>
            <a:ext cx="4160520" cy="1005840"/>
          </a:xfrm>
          <a:prstGeom prst="rect">
            <a:avLst/>
          </a:prstGeom>
          <a:solidFill>
            <a:srgbClr val="F0FF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Branch B – 3D-CNN (Baseline)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18888" y="29443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Spatiotemporal features via 3D convolutions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 separate temporal module needed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Accuracy: 76%  |  + Attention → 82%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3822192"/>
            <a:ext cx="8631936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886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</a:rPr>
              <a:t>Common Evaluation Pipeline:  Accuracy  |  Loss Curves  |  Confusion Matrix  |  Real-video Testing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56032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Vaswani et al. (2017); Donahue et al. (2015); Tran et al. (2015) – see References slide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A: CNN-LSTM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80467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8046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Baseline: 78%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80467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8046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Attention: 80%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508760"/>
            <a:ext cx="1234440" cy="82296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 Frames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" y="1947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T=16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224×224×3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490472" y="1920240"/>
            <a:ext cx="109728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1508760" y="1856232"/>
            <a:ext cx="109728" cy="128016"/>
          </a:xfrm>
          <a:prstGeom prst="triangle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00200" y="1508760"/>
            <a:ext cx="1234440" cy="82296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00200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ResNet-50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Backbone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00200" y="1947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Spatial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Features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34640" y="1920240"/>
            <a:ext cx="109728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2852928" y="1856232"/>
            <a:ext cx="109728" cy="128016"/>
          </a:xfrm>
          <a:prstGeom prst="triangle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2944368" y="1508760"/>
            <a:ext cx="123444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44368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Vector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44368" y="1947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2048-d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per frame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78808" y="1920240"/>
            <a:ext cx="109728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4197096" y="1856232"/>
            <a:ext cx="109728" cy="128016"/>
          </a:xfrm>
          <a:prstGeom prst="triangle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4288536" y="1508760"/>
            <a:ext cx="123444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88536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LSTM ×2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88536" y="1947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512 hidden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Temporal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22976" y="1920240"/>
            <a:ext cx="109728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400000">
            <a:off x="5541264" y="1856232"/>
            <a:ext cx="109728" cy="128016"/>
          </a:xfrm>
          <a:prstGeom prst="triangle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5632704" y="1508760"/>
            <a:ext cx="1234440" cy="82296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32704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Attention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(optional)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32704" y="1947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Temporal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Soft-Attn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67144" y="1920240"/>
            <a:ext cx="109728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5400000">
            <a:off x="6885432" y="1856232"/>
            <a:ext cx="109728" cy="128016"/>
          </a:xfrm>
          <a:prstGeom prst="triangle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6976872" y="1508760"/>
            <a:ext cx="1234440" cy="8229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76872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Softmax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76872" y="1947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101 classes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2606040"/>
            <a:ext cx="4069080" cy="1417320"/>
          </a:xfrm>
          <a:prstGeom prst="rect">
            <a:avLst/>
          </a:prstGeom>
          <a:solidFill>
            <a:srgbClr val="F8FAF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Temporal Self-Attention Detail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" y="2971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LSTM outputs H = {h₁, h₂, …, hT}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Score eₜ = vᵀ·tanh(Whₜ + b)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Weights αₜ = softmax(eₜ)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Context c = Σ αₜ hₜ  → classify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2606040"/>
            <a:ext cx="4297680" cy="141732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29718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Without attention, LSTM uses only the final hidden state — discarding earlier temporal information. The attention layer computes a weighted sum over ALL timesteps, letting the model emphasise the most discriminative frames (e.g., peak motion).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6032" y="4206240"/>
            <a:ext cx="8631936" cy="640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CNN-LSTM Accuracy: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0" y="4315968"/>
            <a:ext cx="2852928" cy="20116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6" name="Text 44"/>
          <p:cNvSpPr/>
          <p:nvPr/>
        </p:nvSpPr>
        <p:spPr>
          <a:xfrm>
            <a:off x="5623560" y="4297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78%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47472" y="4572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CNN-LSTM + Attention: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0" y="4617720"/>
            <a:ext cx="292608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5715000" y="4590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80% (+2%)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B: 3D-CNN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80467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8046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Baseline: 76%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80467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8046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Attention: 82%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508760"/>
            <a:ext cx="1234440" cy="82296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 Clip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" y="1947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16×224×224×3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490472" y="1920240"/>
            <a:ext cx="109728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1508760" y="1856232"/>
            <a:ext cx="109728" cy="128016"/>
          </a:xfrm>
          <a:prstGeom prst="triangle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00200" y="1508760"/>
            <a:ext cx="123444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00200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3D-Conv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Blocks ×4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00200" y="1947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C3D / SlowFast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style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34640" y="1920240"/>
            <a:ext cx="109728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2852928" y="1856232"/>
            <a:ext cx="109728" cy="128016"/>
          </a:xfrm>
          <a:prstGeom prst="triangle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2944368" y="1508760"/>
            <a:ext cx="123444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44368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Spatial-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Temporal Map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44368" y="1947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512 channels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78808" y="1920240"/>
            <a:ext cx="109728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4197096" y="1856232"/>
            <a:ext cx="109728" cy="128016"/>
          </a:xfrm>
          <a:prstGeom prst="triangle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4288536" y="1508760"/>
            <a:ext cx="1234440" cy="82296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88536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CBAM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Self-Attention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88536" y="1947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Channel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Spatial Attn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22976" y="1920240"/>
            <a:ext cx="109728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400000">
            <a:off x="5541264" y="1856232"/>
            <a:ext cx="109728" cy="128016"/>
          </a:xfrm>
          <a:prstGeom prst="triangle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5632704" y="1508760"/>
            <a:ext cx="1234440" cy="8229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32704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Global Avg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Pool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32704" y="1947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Flatten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67144" y="1920240"/>
            <a:ext cx="109728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5400000">
            <a:off x="6885432" y="1856232"/>
            <a:ext cx="109728" cy="128016"/>
          </a:xfrm>
          <a:prstGeom prst="triangle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6976872" y="1508760"/>
            <a:ext cx="1234440" cy="8229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76872" y="1554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FC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Softmax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76872" y="1947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</a:rPr>
              <a:t>101 classes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2606040"/>
            <a:ext cx="4069080" cy="1417320"/>
          </a:xfrm>
          <a:prstGeom prst="rect">
            <a:avLst/>
          </a:prstGeom>
          <a:solidFill>
            <a:srgbClr val="F8FAF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CBAM Attention Module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" y="2971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Channel Attention: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learns WHICH channels matter
(avg-pool + max-pool → MLP → sigmoid)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Spatial Attention: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learns WHERE to look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(channel-wise pool → 7×7 conv → sigmoid)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2606040"/>
            <a:ext cx="4297680" cy="141732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Advantage Over CNN-LSTM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29718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3D convolutions inherently model short-range temporal dependencies. Adding attention suppresses background noise in spatial maps and upweights informative tubes of motion, leading to a larger 6% improvement vs. only 2% for CNN-LSTM.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6032" y="4206240"/>
            <a:ext cx="8631936" cy="640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3D-CNN Accuracy: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0" y="4315968"/>
            <a:ext cx="2779776" cy="20116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6" name="Text 44"/>
          <p:cNvSpPr/>
          <p:nvPr/>
        </p:nvSpPr>
        <p:spPr>
          <a:xfrm>
            <a:off x="5550408" y="4297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76%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47472" y="4572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3D-CNN + Attention: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0" y="4617720"/>
            <a:ext cx="2999232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5788152" y="4590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82% (+6%)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56032" y="9601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05840"/>
            <a:ext cx="3017520" cy="15544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1155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6CA8"/>
                </a:solidFill>
              </a:rPr>
              <a:t>80%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85216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CNN-LSTM + Attention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2148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2148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+2% boost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788920"/>
            <a:ext cx="3017520" cy="15544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28986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82%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585216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3D-CNN + Attention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46520" y="39319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3931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+6% boost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4526280"/>
          <a:ext cx="8631936" cy="530352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2468880"/>
                <a:gridCol w="1499616"/>
              </a:tblGrid>
              <a:tr h="176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With Attention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Δ Gain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CNN-LSTM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3D-CNN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&amp; Accuracy Curves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420624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CNN-LSTM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(Baseline)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" y="1261872"/>
            <a:ext cx="3931920" cy="1371600"/>
          </a:xfrm>
          <a:prstGeom prst="rect">
            <a:avLst/>
          </a:prstGeom>
          <a:solidFill>
            <a:srgbClr val="F0F6FF"/>
          </a:solidFill>
          <a:ln w="19050">
            <a:solidFill>
              <a:srgbClr val="1B6CA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93192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[ Insert Loss &amp; Accuracy Graph Here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Epochs vs. Train/Val Loss &amp; Accuracy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18304" y="91440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914400"/>
            <a:ext cx="4206240" cy="2743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3" name="Text 11"/>
          <p:cNvSpPr/>
          <p:nvPr/>
        </p:nvSpPr>
        <p:spPr>
          <a:xfrm>
            <a:off x="4718304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CNN-LSTM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+Attention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55464" y="1261872"/>
            <a:ext cx="3931920" cy="1371600"/>
          </a:xfrm>
          <a:prstGeom prst="rect">
            <a:avLst/>
          </a:prstGeom>
          <a:solidFill>
            <a:srgbClr val="F0F6FF"/>
          </a:solidFill>
          <a:ln w="19050">
            <a:solidFill>
              <a:srgbClr val="00C2C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855464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[ Insert Loss &amp; Accuracy Graph Here 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55464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Epochs vs. Train/Val Loss &amp; Accuracy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92608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26080"/>
            <a:ext cx="42062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" y="2926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3D-CNN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(Baseline)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" y="3273552"/>
            <a:ext cx="3931920" cy="1371600"/>
          </a:xfrm>
          <a:prstGeom prst="rect">
            <a:avLst/>
          </a:prstGeom>
          <a:solidFill>
            <a:srgbClr val="F0F6FF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93192" y="3749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[ Insert Loss &amp; Accuracy Graph Here 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" y="4343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Epochs vs. Train/Val Loss &amp; Accuracy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8304" y="292608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2926080"/>
            <a:ext cx="420624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718304" y="2926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3D-CNN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+Attention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55464" y="3273552"/>
            <a:ext cx="3931920" cy="1371600"/>
          </a:xfrm>
          <a:prstGeom prst="rect">
            <a:avLst/>
          </a:prstGeom>
          <a:solidFill>
            <a:srgbClr val="F0F6FF"/>
          </a:solidFill>
          <a:ln w="19050">
            <a:solidFill>
              <a:srgbClr val="10B981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855464" y="3749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[ Insert Loss &amp; Accuracy Graph Here 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5464" y="4343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Epochs vs. Train/Val Loss &amp; Accuracy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6032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💡 Tip: Export matplotlib figures as PNG and insert above. Expected trends: faster convergence + lower val loss for attention-augmented models.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– Per-Class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4206240" cy="2743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CNN-LSTM (Baseline – 78%)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3192" y="1261872"/>
            <a:ext cx="3931920" cy="1371600"/>
          </a:xfrm>
          <a:prstGeom prst="rect">
            <a:avLst/>
          </a:prstGeom>
          <a:solidFill>
            <a:srgbClr val="F0F6FF"/>
          </a:solidFill>
          <a:ln w="19050">
            <a:solidFill>
              <a:srgbClr val="1B6CA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93192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[ Insert Confusion Matrix Here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101 × 101 class matrix (seaborn heatmap recommended)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18304" y="91440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914400"/>
            <a:ext cx="4206240" cy="2743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3" name="Text 11"/>
          <p:cNvSpPr/>
          <p:nvPr/>
        </p:nvSpPr>
        <p:spPr>
          <a:xfrm>
            <a:off x="4718304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CNN-LSTM + Attention (80%)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55464" y="1261872"/>
            <a:ext cx="3931920" cy="1371600"/>
          </a:xfrm>
          <a:prstGeom prst="rect">
            <a:avLst/>
          </a:prstGeom>
          <a:solidFill>
            <a:srgbClr val="F0F6FF"/>
          </a:solidFill>
          <a:ln w="19050">
            <a:solidFill>
              <a:srgbClr val="00C2C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855464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[ Insert Confusion Matrix Here 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55464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101 × 101 class matrix (seaborn heatmap recommended)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92608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26080"/>
            <a:ext cx="42062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" y="2926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3D-CNN (Baseline – 76%)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" y="3273552"/>
            <a:ext cx="3931920" cy="1371600"/>
          </a:xfrm>
          <a:prstGeom prst="rect">
            <a:avLst/>
          </a:prstGeom>
          <a:solidFill>
            <a:srgbClr val="F0F6FF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93192" y="3749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[ Insert Confusion Matrix Here 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" y="4343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101 × 101 class matrix (seaborn heatmap recommended)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8304" y="292608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2926080"/>
            <a:ext cx="420624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718304" y="2926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3D-CNN + Attention (82%)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55464" y="3273552"/>
            <a:ext cx="3931920" cy="1371600"/>
          </a:xfrm>
          <a:prstGeom prst="rect">
            <a:avLst/>
          </a:prstGeom>
          <a:solidFill>
            <a:srgbClr val="F0F6FF"/>
          </a:solidFill>
          <a:ln w="19050">
            <a:solidFill>
              <a:srgbClr val="10B981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855464" y="3749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[ Insert Confusion Matrix Here 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5464" y="4343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101 × 101 class matrix (seaborn heatmap recommended)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6032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💡 Tip: Use seaborn.heatmap with annot=False for 101-class matrices; highlight top-confused class pairs in your discussion.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Video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Models were evaluated on custom-recorded and internet-sourced videos not present in UCF-101 training data.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34440"/>
            <a:ext cx="1572768" cy="73152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 Video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(Wild/Custom)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00200"/>
            <a:ext cx="1828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1993392" y="1536192"/>
            <a:ext cx="91440" cy="128016"/>
          </a:xfrm>
          <a:prstGeom prst="triangle">
            <a:avLst/>
          </a:prstGeom>
          <a:solidFill>
            <a:srgbClr val="0D1B2A"/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0" y="1234440"/>
            <a:ext cx="1572768" cy="73152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Frame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Sampling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84448" y="1600200"/>
            <a:ext cx="1828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3749040" y="1536192"/>
            <a:ext cx="91440" cy="128016"/>
          </a:xfrm>
          <a:prstGeom prst="triangle">
            <a:avLst/>
          </a:prstGeom>
          <a:solidFill>
            <a:srgbClr val="0D1B2A"/>
          </a:solidFill>
          <a:ln/>
        </p:spPr>
      </p:sp>
      <p:sp>
        <p:nvSpPr>
          <p:cNvPr id="14" name="Shape 12"/>
          <p:cNvSpPr/>
          <p:nvPr/>
        </p:nvSpPr>
        <p:spPr>
          <a:xfrm>
            <a:off x="3767328" y="1234440"/>
            <a:ext cx="1572768" cy="73152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67328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Inference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40096" y="1600200"/>
            <a:ext cx="1828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5504688" y="1536192"/>
            <a:ext cx="91440" cy="128016"/>
          </a:xfrm>
          <a:prstGeom prst="triangle">
            <a:avLst/>
          </a:prstGeom>
          <a:solidFill>
            <a:srgbClr val="0D1B2A"/>
          </a:solidFill>
          <a:ln/>
        </p:spPr>
      </p:sp>
      <p:sp>
        <p:nvSpPr>
          <p:cNvPr id="18" name="Shape 16"/>
          <p:cNvSpPr/>
          <p:nvPr/>
        </p:nvSpPr>
        <p:spPr>
          <a:xfrm>
            <a:off x="5522976" y="1234440"/>
            <a:ext cx="1572768" cy="73152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22976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Top-3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Predictions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95744" y="1600200"/>
            <a:ext cx="18288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7260336" y="1536192"/>
            <a:ext cx="91440" cy="128016"/>
          </a:xfrm>
          <a:prstGeom prst="triangle">
            <a:avLst/>
          </a:prstGeom>
          <a:solidFill>
            <a:srgbClr val="0D1B2A"/>
          </a:solidFill>
          <a:ln/>
        </p:spPr>
      </p:sp>
      <p:sp>
        <p:nvSpPr>
          <p:cNvPr id="22" name="Shape 20"/>
          <p:cNvSpPr/>
          <p:nvPr/>
        </p:nvSpPr>
        <p:spPr>
          <a:xfrm>
            <a:off x="7278624" y="1234440"/>
            <a:ext cx="1572768" cy="73152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78624" y="1280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Overlay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148840"/>
          <a:ext cx="8631936" cy="210312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682496"/>
                <a:gridCol w="1554480"/>
                <a:gridCol w="15544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 Video Action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CNN-LSTM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CNN-LSTM+Attn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3D-CNN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3D-CNN+Attn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Basketball Shooting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 Correct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 Correct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 Correct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 Correct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Walking with Dog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✗ Jogging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 Correct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✗ Running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 Correct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Playing Guitar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 Correct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 Correct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✗ Piano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 Correct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Push-ups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✗ Sit-ups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 Correct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✗ Sit-ups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✓ Correct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256032" y="4407408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Attention-augmented models correctly reclassified visually similar actions where baselines failed — demonstrating improved generalisation.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56032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[ Insert representative video frame snapshots with prediction overlay above the table if presenting live ]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Attention Improves HAR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4160520" cy="274320"/>
          </a:xfrm>
          <a:prstGeom prst="rect">
            <a:avLst/>
          </a:prstGeom>
          <a:solidFill>
            <a:srgbClr val="1B6C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9144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Selective Focus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26187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Attention assigns higher weight to motion-rich frames/regions and suppresses static background noise — directly addressing the biggest source of error in HAR.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45152" y="91440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914400"/>
            <a:ext cx="4160520" cy="274320"/>
          </a:xfrm>
          <a:prstGeom prst="rect">
            <a:avLst/>
          </a:prstGeom>
          <a:solidFill>
            <a:srgbClr val="1B6C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9144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Temporal Weighting (CNN-LSTM)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754880" y="126187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Standard LSTM encodes sequence info but equally weights all timesteps. Attention re-ranks frames by relevance, boosting discriminability between visually similar actions (e.g., push-ups vs sit-ups).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56032" y="274320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56032" y="2743200"/>
            <a:ext cx="4160520" cy="2743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27432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Spatial Channel Selection (3D-CNN)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65760" y="309067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CBAM's channel attention suppresses uninformative feature maps while spatial attention highlights discriminative body-part locations — larger gain (+6%) because 3D-CNN already captures motion well.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45152" y="274320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45152" y="2743200"/>
            <a:ext cx="4160520" cy="2743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74320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29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Literature-Supported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754880" y="3090672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Vaswani et al. (2017) showed attention as a general feature re-weighting mechanism. Wang et al. (2018) Non-local Networks applied self-attention to video, yielding consistent accuracy gains on Kinetics &amp; UCF-101.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Literature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868680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1463040" cy="2560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68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Attention Mechanism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Vaswani et al. (2017) — "Attention Is All You Need"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45389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Introduced the Transformer architecture with scaled dot-product self-attention, showing that attention alone can model long-range dependencies — a key theoretical basis for temporal attention in HAR.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45152" y="868680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868680"/>
            <a:ext cx="1463040" cy="2560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868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Video Attention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36592" y="1161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Wang et al. (2018) — "Non-local Means for Video"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6592" y="145389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Applied non-local (self-attention) blocks to C3D networks on Kinetics &amp; UCF-101, achieving state-of-the-art by capturing long-range spatiotemporal dependencies — directly validates our 3D-CNN+Attention approach.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258568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258568"/>
            <a:ext cx="1463040" cy="2560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3D-CNN for HAR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551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Tran et al. (2015) — "Learning Spatiotemporal Features with 3D CNNs"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28437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Introduced the C3D architecture, demonstrating that 3D convolutions can jointly model spatial and temporal features. Our 3D-CNN baseline is built on this work; adding attention extends it significantly.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45152" y="2258568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2258568"/>
            <a:ext cx="1463040" cy="2560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2" name="Text 20"/>
          <p:cNvSpPr/>
          <p:nvPr/>
        </p:nvSpPr>
        <p:spPr>
          <a:xfrm>
            <a:off x="4645152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CNN-LSTM for HAR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36592" y="2551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Donahue et al. (2015) — "Long-term Recurrent CNNs"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36592" y="28437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Proposed CNN-LSTM (LRCN) for video tasks, confirming the effectiveness of combining spatial CNN features with temporal LSTM modelling — our CNN-LSTM baseline follows this paradigm.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648456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648456"/>
            <a:ext cx="1463040" cy="2560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36484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CBAM Attention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3941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Woo et al. (2018) — "CBAM: Convolutional Block Attention Module"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42336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Introduced channel-then-spatial attention for CNNs. We apply CBAM within our 3D-CNN pipeline; its lightweight design and consistent gains on classification tasks justify its use in our architecture.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45152" y="3648456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45152" y="3648456"/>
            <a:ext cx="1463040" cy="25603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2" name="Text 30"/>
          <p:cNvSpPr/>
          <p:nvPr/>
        </p:nvSpPr>
        <p:spPr>
          <a:xfrm>
            <a:off x="4645152" y="36484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Dataset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36592" y="3941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Soomro et al. (2012) — "UCF101: A Dataset of 101 Human Actions"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36592" y="42336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The UCF-101 dataset used in this study: 13,320 videos across 101 real-world action categories, with established train/test splits. Standard benchmark in HAR research.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B6CA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28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777240"/>
            <a:ext cx="841248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60120"/>
            <a:ext cx="3977640" cy="1005840"/>
          </a:xfrm>
          <a:prstGeom prst="rect">
            <a:avLst/>
          </a:prstGeom>
          <a:solidFill>
            <a:srgbClr val="0D2640"/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34640" y="1033272"/>
            <a:ext cx="1463040" cy="23774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9" name="Text 6"/>
          <p:cNvSpPr/>
          <p:nvPr/>
        </p:nvSpPr>
        <p:spPr>
          <a:xfrm>
            <a:off x="2834640" y="10332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Baseline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1051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</a:rPr>
              <a:t>CNN-LSTM Baseline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13990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</a:rPr>
              <a:t>78% accuracy — strong spatial + temporal baseline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960120"/>
            <a:ext cx="3977640" cy="1005840"/>
          </a:xfrm>
          <a:prstGeom prst="rect">
            <a:avLst/>
          </a:prstGeom>
          <a:solidFill>
            <a:srgbClr val="0D2640"/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0" y="1033272"/>
            <a:ext cx="1463040" cy="23774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10332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Baseline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73168" y="1051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</a:rPr>
              <a:t>CNN-LSTM + Attention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73168" y="13990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</a:rPr>
              <a:t>80% (+2%) — temporal weighting improves similar-action disambiguation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148840"/>
            <a:ext cx="3977640" cy="1005840"/>
          </a:xfrm>
          <a:prstGeom prst="rect">
            <a:avLst/>
          </a:prstGeom>
          <a:solidFill>
            <a:srgbClr val="0D26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34640" y="2221992"/>
            <a:ext cx="1463040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2834640" y="22219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+Attention ✓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66928" y="2240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</a:rPr>
              <a:t>3D-CNN Baseline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6928" y="25877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</a:rPr>
              <a:t>76% — joint spatiotemporal learning without attention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2148840"/>
            <a:ext cx="3977640" cy="1005840"/>
          </a:xfrm>
          <a:prstGeom prst="rect">
            <a:avLst/>
          </a:prstGeom>
          <a:solidFill>
            <a:srgbClr val="0D26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40880" y="2221992"/>
            <a:ext cx="1463040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1"/>
          <p:cNvSpPr/>
          <p:nvPr/>
        </p:nvSpPr>
        <p:spPr>
          <a:xfrm>
            <a:off x="7040880" y="22219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+Attention ✓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73168" y="2240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</a:rPr>
              <a:t>3D-CNN + Attention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73168" y="25877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EE"/>
                </a:solidFill>
              </a:rPr>
              <a:t>82% (+6%) — largest gain; attention suppresses irrelevant spatial maps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3474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</a:rPr>
              <a:t>Key Takeaway: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37947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Attention mechanisms consistently improve HAR performance by enabling models to focus on discriminative spatiotemporal regions. The improvement is especially pronounced in architectures that already capture motion well (3D-CNN), where attention can further refine feature importance.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Thank You  |  Questions Welcome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822960"/>
            <a:ext cx="384048" cy="34747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[1]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8229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Vaswani, A., et al. (2017). Attention Is All You Need. Advances in Neural Information Processing Systems (NeurIPS), 30.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1335024"/>
            <a:ext cx="384048" cy="34747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13350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[2]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133502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Wang, X., Girshick, R., Gupta, A., &amp; He, K. (2018). Non-local Neural Networks. CVPR 2018.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847088"/>
            <a:ext cx="384048" cy="34747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18470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[3]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184708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Tran, D., Bourdev, L., Fergus, R., Torresani, L., &amp; Paluri, M. (2015). Learning Spatiotemporal Features with 3D Convolutional Networks. ICCV 2015.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359152"/>
            <a:ext cx="384048" cy="34747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23591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[4]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" y="23591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Donahue, J., et al. (2015). Long-term Recurrent Convolutional Networks for Visual Recognition and Description. CVPR 2015.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871216"/>
            <a:ext cx="384048" cy="34747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28712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[5]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808" y="287121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Woo, S., Park, J., Lee, J.-Y., &amp; Kweon, I. S. (2018). CBAM: Convolutional Block Attention Module. ECCV 2018.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383280"/>
            <a:ext cx="384048" cy="34747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" y="33832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[6]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9808" y="33832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Soomro, K., Zamir, A. R., &amp; Shah, M. (2012). UCF101: A Dataset of 101 Human Actions Classes From Videos in The Wild. arXiv:1212.0402.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3895344"/>
            <a:ext cx="384048" cy="34747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" y="389534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[7]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9808" y="389534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Hochreiter, S., &amp; Schmidhuber, J. (1997). Long Short-Term Memory. Neural Computation, 9(8), 1735–1780.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4407408"/>
            <a:ext cx="384048" cy="34747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4407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[8]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9808" y="44074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He, K., Zhang, X., Ren, S., &amp; Sun, J. (2016). Deep Residual Learning for Image Recognition. CVPR 2016.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Attention-Enhanced Human Action Recognition</dc:title>
  <dc:subject>PptxGenJS Presentation</dc:subject>
  <dc:creator>BTP Project</dc:creator>
  <cp:lastModifiedBy>BTP Project</cp:lastModifiedBy>
  <cp:revision>1</cp:revision>
  <dcterms:created xsi:type="dcterms:W3CDTF">2026-04-21T19:53:03Z</dcterms:created>
  <dcterms:modified xsi:type="dcterms:W3CDTF">2026-04-21T19:53:03Z</dcterms:modified>
</cp:coreProperties>
</file>